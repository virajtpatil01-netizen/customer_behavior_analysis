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3,900 transactions · 18 features · 4 product categories · 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302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0366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620366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841054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$59.76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4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841054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3.75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4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86685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Demographics, purchase details, shopping behavior, payment, and shipping — 37 missing values in Review Rating imputed by category median.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132" y="383604"/>
            <a:ext cx="38181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Python: Data Preparation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34132" y="93389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34132" y="1130350"/>
            <a:ext cx="4846737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434132" y="122091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&amp; Explore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4132" y="1479872"/>
            <a:ext cx="4846737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Import via pandas, inspect with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4132" y="187218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132" y="2068637"/>
            <a:ext cx="4846737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434132" y="215919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132" y="2418159"/>
            <a:ext cx="48467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Impute missing ratings, standardize columns to snake_case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4132" y="280570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132" y="3002161"/>
            <a:ext cx="4846737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434132" y="309272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4132" y="3351684"/>
            <a:ext cx="4846737" cy="38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Binned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derived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dropped redundant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4132" y="39347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4132" y="4131246"/>
            <a:ext cx="4846737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434132" y="42218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to DB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4132" y="4480768"/>
            <a:ext cx="48467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Exported cleaned DataFrame to PostgreSQL for SQL analysis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7186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Male Customers Drive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Male revenue is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2.1× higher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than female — a key segment for targeted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007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7418"/>
            <a:ext cx="21749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88344"/>
            <a:ext cx="3902943" cy="23083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607418"/>
            <a:ext cx="3123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Most Discount-Dependent Products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49701" y="1988344"/>
            <a:ext cx="1880592" cy="764530"/>
          </a:xfrm>
          <a:prstGeom prst="roundRect">
            <a:avLst>
              <a:gd name="adj" fmla="val 11960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30651" y="1988344"/>
            <a:ext cx="76200" cy="764530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8" name="Text 5"/>
          <p:cNvSpPr/>
          <p:nvPr/>
        </p:nvSpPr>
        <p:spPr>
          <a:xfrm>
            <a:off x="4967660" y="2149153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Hat — 50%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772052" y="1988344"/>
            <a:ext cx="1880592" cy="764530"/>
          </a:xfrm>
          <a:prstGeom prst="roundRect">
            <a:avLst>
              <a:gd name="adj" fmla="val 11960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53002" y="1988344"/>
            <a:ext cx="76200" cy="764530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11" name="Text 8"/>
          <p:cNvSpPr/>
          <p:nvPr/>
        </p:nvSpPr>
        <p:spPr>
          <a:xfrm>
            <a:off x="6990011" y="2149153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Sneakers — 49.66%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49701" y="2894633"/>
            <a:ext cx="1880592" cy="543074"/>
          </a:xfrm>
          <a:prstGeom prst="roundRect">
            <a:avLst>
              <a:gd name="adj" fmla="val 16837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30651" y="2894633"/>
            <a:ext cx="76200" cy="543074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4967660" y="3055441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Coat — 49.07%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772052" y="2894633"/>
            <a:ext cx="1880592" cy="543074"/>
          </a:xfrm>
          <a:prstGeom prst="roundRect">
            <a:avLst>
              <a:gd name="adj" fmla="val 16837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53002" y="2894633"/>
            <a:ext cx="76200" cy="543074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17" name="Text 14"/>
          <p:cNvSpPr/>
          <p:nvPr/>
        </p:nvSpPr>
        <p:spPr>
          <a:xfrm>
            <a:off x="6990011" y="3055441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Sweater — 48.17%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49701" y="3579465"/>
            <a:ext cx="1880592" cy="543074"/>
          </a:xfrm>
          <a:prstGeom prst="roundRect">
            <a:avLst>
              <a:gd name="adj" fmla="val 16837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30651" y="3579465"/>
            <a:ext cx="76200" cy="543074"/>
          </a:xfrm>
          <a:prstGeom prst="roundRect">
            <a:avLst>
              <a:gd name="adj" fmla="val 78140"/>
            </a:avLst>
          </a:prstGeom>
          <a:solidFill>
            <a:srgbClr val="F2F2F3"/>
          </a:solidFill>
          <a:ln/>
        </p:spPr>
      </p:sp>
      <p:sp>
        <p:nvSpPr>
          <p:cNvPr id="20" name="Text 17"/>
          <p:cNvSpPr/>
          <p:nvPr/>
        </p:nvSpPr>
        <p:spPr>
          <a:xfrm>
            <a:off x="4967660" y="3740274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Pants — 47.37%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43327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Shipping &amp; Subscriptions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621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Express Shoppers Spend More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Express shipping averages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$60.48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vs. $58.46 for Standard.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520776"/>
            <a:ext cx="18895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Subscription Revenue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88399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Non-subscribers: 2,847 customers ·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$170,436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revenue</a:t>
            </a:r>
            <a:endParaRPr lang="en-US" sz="11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Subscribers: 1,053 customers ·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$62,645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revenue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40160"/>
            <a:ext cx="43335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95748"/>
            <a:ext cx="2290465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8422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148780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3,116 customers — 80% of base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95748"/>
            <a:ext cx="2290539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8422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148780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663875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28103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11690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83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6497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 customers with &gt;5 purchases: 2,518 non-subscribers vs. 958 subscribers —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40223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Young Adults Lead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Young Adults contribute the highest revenue at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$62,143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Revenue declines slightly with age — a key targeting signal.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8741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743001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7916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Subscription Split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209817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27% subscribers vs. 73% non-subscribers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8511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657177"/>
            <a:ext cx="18919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96368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Clothing, Accessories, Footwear, Outerwear breakdowns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474021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5226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82919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By gender, subscription, category, and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15528"/>
            <a:ext cx="480618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135" y="1114946"/>
            <a:ext cx="205978" cy="20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902" y="111070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26902" y="1405012"/>
            <a:ext cx="77364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135" y="1891605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902" y="188736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26902" y="2181671"/>
            <a:ext cx="77364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Reward repeat buyers toward "Loyal" segment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135" y="2668265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902" y="2664023"/>
            <a:ext cx="19071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26902" y="2958331"/>
            <a:ext cx="77364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Balance sales lift with margin control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135" y="3444925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6902" y="344068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26902" y="3734991"/>
            <a:ext cx="77364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Highlight top-rated, best-selling products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135" y="4221584"/>
            <a:ext cx="205978" cy="20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6902" y="421734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26902" y="4511650"/>
            <a:ext cx="77364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Focus on high-revenue age groups &amp; express shippers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2026-05-12T01:33:50Z</dcterms:created>
  <dcterms:modified xsi:type="dcterms:W3CDTF">2026-05-12T01:33:50Z</dcterms:modified>
</cp:coreProperties>
</file>